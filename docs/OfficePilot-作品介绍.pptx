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5836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" kern="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 AI CODING 课程作业 · 方向二 AI 应用创新 · 场景 4 智能办公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" y="1737360"/>
            <a:ext cx="8595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B1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OfficePilot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841248" y="3090672"/>
            <a:ext cx="201168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31012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本地优先的智能办公文档工作台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把制度、会议纪要、表格和合同，变成可引用、可校验、可导出的办公结果。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555480" y="1737360"/>
            <a:ext cx="1874520" cy="1874520"/>
          </a:xfrm>
          <a:prstGeom prst="roundRect">
            <a:avLst/>
          </a:prstGeom>
          <a:solidFill>
            <a:srgbClr val="F4F1EA"/>
          </a:solidFill>
          <a:ln w="15240">
            <a:solidFill>
              <a:srgbClr val="1B1A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55480" y="1737360"/>
            <a:ext cx="1874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B1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822960" y="4892040"/>
            <a:ext cx="1280160" cy="384048"/>
          </a:xfrm>
          <a:prstGeom prst="roundRect">
            <a:avLst>
              <a:gd name="adj" fmla="val 9524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8920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本地优先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40280" y="4892040"/>
            <a:ext cx="1280160" cy="384048"/>
          </a:xfrm>
          <a:prstGeom prst="roundRect">
            <a:avLst>
              <a:gd name="adj" fmla="val 9524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0280" y="48920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可引用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0" y="4892040"/>
            <a:ext cx="1280160" cy="384048"/>
          </a:xfrm>
          <a:prstGeom prst="roundRect">
            <a:avLst>
              <a:gd name="adj" fmla="val 9524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48920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可校验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74920" y="4892040"/>
            <a:ext cx="1280160" cy="384048"/>
          </a:xfrm>
          <a:prstGeom prst="roundRect">
            <a:avLst>
              <a:gd name="adj" fmla="val 9524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48920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可导出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053328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2026-10-25 · feat/officepilot · Node 24 / Fastify 5 / React 19 / LangGraph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WHY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场景与痛点：文档很多，结果很少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5074920" cy="4526280"/>
          </a:xfrm>
          <a:prstGeom prst="roundRect">
            <a:avLst>
              <a:gd name="adj" fmla="val 808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星海科技 · 行政 / 项目团队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份制度、会议、表格与合同，散落在不同格式里。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" y="2697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26791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找不到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87168" y="267919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制度散落在 PDF / DOCX / 表格里，关键词搜不全，页码记不住。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373075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17320" y="371246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不放心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87168" y="3712464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通用聊天模型答得很像，但给不出原文依据，错了也看不出来。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47640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74573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交不出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487168" y="47457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会议行动项、周报、抽取结果还要手工整理，格式不统一。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33872" y="3337560"/>
            <a:ext cx="457200" cy="146304"/>
          </a:xfrm>
          <a:prstGeom prst="rightArrow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417320"/>
            <a:ext cx="5120640" cy="1298448"/>
          </a:xfrm>
          <a:prstGeom prst="roundRect">
            <a:avLst>
              <a:gd name="adj" fmla="val 281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1600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找得到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193852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 + FTS5 混合检索，命中原文片段，附页码与相似度。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0" y="2880360"/>
            <a:ext cx="5120640" cy="1298448"/>
          </a:xfrm>
          <a:prstGeom prst="roundRect">
            <a:avLst>
              <a:gd name="adj" fmla="val 281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30632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说得准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34015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阈值过滤 + 引用校验 + 无依据拒答；回答中的 [n] 可回到原文。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0" y="4343400"/>
            <a:ext cx="5120640" cy="1298448"/>
          </a:xfrm>
          <a:prstGeom prst="roundRect">
            <a:avLst>
              <a:gd name="adj" fmla="val 281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5262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交得出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0" y="486460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结构化抽取 5 行表格 + 四段式周报，CSV / Markdown 直接导出。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605332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不是再做一个聊天框，而是把文档变成可验收的办公结果。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PRODUCT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一个工作台，三个技能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3493008" cy="3611880"/>
          </a:xfrm>
          <a:prstGeom prst="roundRect">
            <a:avLst>
              <a:gd name="adj" fmla="val 104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17320"/>
            <a:ext cx="3493008" cy="64008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制度问答 / 摘要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1762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@ 文档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41248" y="283464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63040" y="28072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 → 阈值 → 带引用生成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493008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463040" y="346557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流式回答 + [n] + 证据面板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" y="415137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463040" y="41239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无依据拒答 / 转人工建议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07408" y="1417320"/>
            <a:ext cx="3493008" cy="3611880"/>
          </a:xfrm>
          <a:prstGeom prst="roundRect">
            <a:avLst>
              <a:gd name="adj" fmla="val 104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07408" y="1417320"/>
            <a:ext cx="3493008" cy="64008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08576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文档抽取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08576" y="21762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 指定 1 份文档 + 字段模板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08576" y="283464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30368" y="28072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输出 → zod 逐行校验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08576" y="3493008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230368" y="346557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套模板 / 5 行会议行动项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08576" y="415137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230368" y="41239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回灌错误重试 1 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174736" y="1417320"/>
            <a:ext cx="3493008" cy="3611880"/>
          </a:xfrm>
          <a:prstGeom prst="roundRect">
            <a:avLst>
              <a:gd name="adj" fmla="val 1047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74736" y="1417320"/>
            <a:ext cx="3493008" cy="64008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75904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周报生成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75904" y="21762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997696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 7 天或手动勾选文档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375904" y="283464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997696" y="28072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逐份摘要 → 四段式组装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5904" y="3493008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97696" y="346557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本周完成 / 进行中 / 风险 / 下周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375904" y="415137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997696" y="41239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Markdown，保留来源与缺口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0080" y="5321808"/>
            <a:ext cx="2606040" cy="749808"/>
          </a:xfrm>
          <a:prstGeom prst="roundRect">
            <a:avLst>
              <a:gd name="adj" fmla="val 48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5394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1600200" y="54681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演示文档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56432" y="5321808"/>
            <a:ext cx="2606040" cy="749808"/>
          </a:xfrm>
          <a:prstGeom prst="roundRect">
            <a:avLst>
              <a:gd name="adj" fmla="val 48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21024" y="5394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4416552" y="54681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支持格式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72784" y="5321808"/>
            <a:ext cx="2606040" cy="749808"/>
          </a:xfrm>
          <a:prstGeom prst="roundRect">
            <a:avLst>
              <a:gd name="adj" fmla="val 48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37376" y="5394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7232904" y="54681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抽取字段模板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089136" y="5321808"/>
            <a:ext cx="2606040" cy="749808"/>
          </a:xfrm>
          <a:prstGeom prst="roundRect">
            <a:avLst>
              <a:gd name="adj" fmla="val 4878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53728" y="5394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SSE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10049256" y="54681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事件可回放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三层架构：工作台 / API / 模型与存储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3017520" cy="1417320"/>
          </a:xfrm>
          <a:prstGeom prst="roundRect">
            <a:avLst>
              <a:gd name="adj" fmla="val 258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08760"/>
            <a:ext cx="301752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636776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工作台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6384" y="1965960"/>
            <a:ext cx="2724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文档库 · 对话 · @ 引用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 / 结果 / 执行链路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+ EventSource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30752" y="2139696"/>
            <a:ext cx="384048" cy="146304"/>
          </a:xfrm>
          <a:prstGeom prst="rightArrow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18105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+ SSE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279392" y="1508760"/>
            <a:ext cx="3246120" cy="1417320"/>
          </a:xfrm>
          <a:prstGeom prst="roundRect">
            <a:avLst>
              <a:gd name="adj" fmla="val 258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9392" y="1508760"/>
            <a:ext cx="324612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5696" y="1636776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Fastify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25696" y="196596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 / runs / health / openapi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入库串行队列 · 运行管理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事件回放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07808" y="2139696"/>
            <a:ext cx="384048" cy="146304"/>
          </a:xfrm>
          <a:prstGeom prst="rightArrow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56448" y="150876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56448" y="1508760"/>
            <a:ext cx="338328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2752" y="1636776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 + RAG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02752" y="1965960"/>
            <a:ext cx="3090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router → qa / summary / extract / weekly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 · 引用校验 · 阈值边界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24728" y="2971800"/>
            <a:ext cx="146304" cy="457200"/>
          </a:xfrm>
          <a:prstGeom prst="down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79392" y="3474720"/>
            <a:ext cx="3246120" cy="1051560"/>
          </a:xfrm>
          <a:prstGeom prst="roundRect">
            <a:avLst>
              <a:gd name="adj" fmla="val 34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5696" y="3602736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模型网关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425696" y="393192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兼容直连 / 代理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兜底 provider / demo provider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765792" y="2971800"/>
            <a:ext cx="146304" cy="457200"/>
          </a:xfrm>
          <a:prstGeom prst="down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6448" y="3474720"/>
            <a:ext cx="3383280" cy="1051560"/>
          </a:xfrm>
          <a:prstGeom prst="roundRect">
            <a:avLst>
              <a:gd name="adj" fmla="val 3478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02752" y="3602736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· node:sqlite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02752" y="3931920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 / chunks / FTS5 / 向量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runs / run_events / embedding_cache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4892040"/>
            <a:ext cx="10899648" cy="1024128"/>
          </a:xfrm>
          <a:prstGeom prst="roundRect">
            <a:avLst>
              <a:gd name="adj" fmla="val 3571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50292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关键取舍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74520" y="501091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 全栈共享 zod 契约 · node:sqlite 零原生依赖 · 运行 + 事件表 + SSE 可恢复 · 串行队列避免本地写竞争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74520" y="541324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默认只监听 127.0.0.1；无鉴权，定位本地演示。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RAG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管线：先检索，再回答，最后校验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536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6384" y="1856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unpdf / mammoth / exceljs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0" y="1783080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1417320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1024" y="1536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切块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21024" y="1856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 字 / 120 重叠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35040" y="1783080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417320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1536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Embedding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55664" y="1856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真实模型或 256 维 demo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869680" y="1783080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0" y="1417320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0304" y="1536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FTS5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90304" y="1856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bigram 索引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972800" y="2395728"/>
            <a:ext cx="146304" cy="329184"/>
          </a:xfrm>
          <a:prstGeom prst="down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2852928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混合检索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6384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vector + 0.25 BM25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0" y="3218688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0" y="2852928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21024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阈值过滤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21024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0.1 / real 0.55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3218688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09360" y="2852928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55664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带引用生成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55664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每段结论附 [n]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869680" y="3218688"/>
            <a:ext cx="164592" cy="146304"/>
          </a:xfrm>
          <a:prstGeom prst="rightArrow">
            <a:avLst/>
          </a:prstGeom>
          <a:solidFill>
            <a:srgbClr val="7A7468"/>
          </a:solidFill>
          <a:ln w="12700">
            <a:solidFill>
              <a:srgbClr val="7A74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44000" y="2852928"/>
            <a:ext cx="2487168" cy="868680"/>
          </a:xfrm>
          <a:prstGeom prst="roundRect">
            <a:avLst>
              <a:gd name="adj" fmla="val 4211"/>
            </a:avLst>
          </a:prstGeom>
          <a:solidFill>
            <a:srgbClr val="1B1A17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90304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引用校验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290304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 / 日期 / 数字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40080" y="4069080"/>
            <a:ext cx="7772400" cy="640080"/>
          </a:xfrm>
          <a:prstGeom prst="roundRect">
            <a:avLst>
              <a:gd name="adj" fmla="val 5714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" y="416966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校验失败 → 回灌错误重试 ≤ 2 次 → 仍失败降级为「无法确认」；没有来源则不调用生成。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641080" y="391363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9/9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601200" y="39136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hit@3（9 条事实题）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641080" y="4443984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601200" y="444398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题边界拒答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641080" y="4974336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233 ms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601200" y="49743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P95（demo provider）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641080" y="5504688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≤ 5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601200" y="55046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返回来源条数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080" y="589788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“引用必须能回到原文；没有依据就拒答。”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LANGGRAPH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显式状态图 + 可恢复的运行事件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852928"/>
            <a:ext cx="868680" cy="548640"/>
          </a:xfrm>
          <a:prstGeom prst="roundRect">
            <a:avLst>
              <a:gd name="adj" fmla="val 6667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8529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554480" y="3054096"/>
            <a:ext cx="256032" cy="146304"/>
          </a:xfrm>
          <a:prstGeom prst="rightArrow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83664" y="2761488"/>
            <a:ext cx="1325880" cy="73152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83664" y="2761488"/>
            <a:ext cx="1325880" cy="54864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29968" y="2889504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29968" y="3218688"/>
            <a:ext cx="1033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+ 技能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01568" y="3127248"/>
            <a:ext cx="329184" cy="0"/>
          </a:xfrm>
          <a:prstGeom prst="line">
            <a:avLst/>
          </a:prstGeom>
          <a:noFill/>
          <a:ln w="1524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30752" y="1627632"/>
            <a:ext cx="0" cy="3017520"/>
          </a:xfrm>
          <a:prstGeom prst="line">
            <a:avLst/>
          </a:prstGeom>
          <a:noFill/>
          <a:ln w="15240">
            <a:solidFill>
              <a:srgbClr val="D8D1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30752" y="1673352"/>
            <a:ext cx="347472" cy="0"/>
          </a:xfrm>
          <a:prstGeom prst="line">
            <a:avLst/>
          </a:prstGeom>
          <a:noFill/>
          <a:ln w="1270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60520" y="1371600"/>
            <a:ext cx="2286000" cy="658368"/>
          </a:xfrm>
          <a:prstGeom prst="roundRect">
            <a:avLst>
              <a:gd name="adj" fmla="val 555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06824" y="1499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06824" y="1828800"/>
            <a:ext cx="1993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retrieve → answer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validate → retry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60520" y="1371600"/>
            <a:ext cx="45720" cy="658368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30752" y="2816352"/>
            <a:ext cx="347472" cy="0"/>
          </a:xfrm>
          <a:prstGeom prst="line">
            <a:avLst/>
          </a:prstGeom>
          <a:noFill/>
          <a:ln w="1270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60520" y="2514600"/>
            <a:ext cx="2286000" cy="658368"/>
          </a:xfrm>
          <a:prstGeom prst="roundRect">
            <a:avLst>
              <a:gd name="adj" fmla="val 555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2642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06824" y="2971800"/>
            <a:ext cx="1993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loadDoc → map-reduce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30752" y="3959352"/>
            <a:ext cx="347472" cy="0"/>
          </a:xfrm>
          <a:prstGeom prst="line">
            <a:avLst/>
          </a:prstGeom>
          <a:noFill/>
          <a:ln w="1270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160520" y="3657600"/>
            <a:ext cx="2286000" cy="658368"/>
          </a:xfrm>
          <a:prstGeom prst="roundRect">
            <a:avLst>
              <a:gd name="adj" fmla="val 555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06824" y="3785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extract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306824" y="4114800"/>
            <a:ext cx="1993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→ zod → retry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730752" y="5102352"/>
            <a:ext cx="347472" cy="0"/>
          </a:xfrm>
          <a:prstGeom prst="line">
            <a:avLst/>
          </a:prstGeom>
          <a:noFill/>
          <a:ln w="12700">
            <a:solidFill>
              <a:srgbClr val="7A74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160520" y="4800600"/>
            <a:ext cx="2286000" cy="658368"/>
          </a:xfrm>
          <a:prstGeom prst="roundRect">
            <a:avLst>
              <a:gd name="adj" fmla="val 555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06824" y="4928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weekly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06824" y="5257800"/>
            <a:ext cx="1993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collect → compose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60520" y="5623560"/>
            <a:ext cx="4754880" cy="566928"/>
          </a:xfrm>
          <a:prstGeom prst="roundRect">
            <a:avLst>
              <a:gd name="adj" fmla="val 6452"/>
            </a:avLst>
          </a:prstGeom>
          <a:solidFill>
            <a:srgbClr val="ECE6D9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15968" y="5705856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内部：检索无来源 → boundary；校验失败 → 重试 ≤ 2 → 降级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086600" y="141732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工程化不是附属品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14032" y="18288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run_events(seq)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14032" y="2103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 node / token / citation 落库；SSE 的 id 就是 seq。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14032" y="26517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Last-Event-ID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14032" y="292608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断线从 seq &gt; lastId 补发；页面刷新用 GET /api/runs/:id 对账。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14032" y="34747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embedding_cache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14032" y="374904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model + dim + 文本 hash 复用；维度不一致直接拒绝。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114032" y="429768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串行队列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114032" y="4572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入库与运行并发 1，避免 SQLite 写竞争与限流。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114032" y="5120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zod + 重试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114032" y="539496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 JSON 失败回灌错误；仍失败返回告警，不填假值。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0080" y="59893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图不是画给 PPT 看的：router 条件边、qa 校验循环、extract schema 重试，都在代码里有对应实现。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DEMO &amp;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分钟演示路径与实测结果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现场路径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7556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4300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0" y="17556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份文档 / 分类 / 入库状态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24140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3000" y="2414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制度问答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24140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 650，流式回答 + [1]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" y="307238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3072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引用定位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0320" y="30723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 [1]，右侧证据高亮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" y="37307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7307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回答边界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60320" y="3730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海外差旅 → 转人工卡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" y="43891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4389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结构化抽取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60320" y="4389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@Q3 → 5 行行动项 → CSV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" y="50474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5047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周报生成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0" y="5047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四段式 → Markdown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57607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最后切「执行链路」：Router → Retrieve → Generate → Validate 的真实耗时与重试。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12280" y="155448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03720" y="1737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6885432" y="230428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 / 集成测试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513064" y="155448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04504" y="1737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8586216" y="230428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测试文件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0213848" y="155448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5288" y="1737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300" dirty="0"/>
          </a:p>
        </p:txBody>
      </p:sp>
      <p:sp>
        <p:nvSpPr>
          <p:cNvPr id="33" name="Text 31"/>
          <p:cNvSpPr/>
          <p:nvPr/>
        </p:nvSpPr>
        <p:spPr>
          <a:xfrm>
            <a:off x="10287000" y="230428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typecheck 错误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812280" y="297180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03720" y="31546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6/6</a:t>
            </a:r>
            <a:endParaRPr lang="en-US" sz="2300" dirty="0"/>
          </a:p>
        </p:txBody>
      </p:sp>
      <p:sp>
        <p:nvSpPr>
          <p:cNvPr id="36" name="Text 34"/>
          <p:cNvSpPr/>
          <p:nvPr/>
        </p:nvSpPr>
        <p:spPr>
          <a:xfrm>
            <a:off x="6885432" y="372160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 E2E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513064" y="297180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04504" y="31546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9/9</a:t>
            </a:r>
            <a:endParaRPr lang="en-US" sz="2300" dirty="0"/>
          </a:p>
        </p:txBody>
      </p:sp>
      <p:sp>
        <p:nvSpPr>
          <p:cNvPr id="39" name="Text 37"/>
          <p:cNvSpPr/>
          <p:nvPr/>
        </p:nvSpPr>
        <p:spPr>
          <a:xfrm>
            <a:off x="8586216" y="372160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hit@3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213848" y="2971800"/>
            <a:ext cx="1554480" cy="1207008"/>
          </a:xfrm>
          <a:prstGeom prst="roundRect">
            <a:avLst>
              <a:gd name="adj" fmla="val 3030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05288" y="31546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842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</a:t>
            </a:r>
            <a:endParaRPr lang="en-US" sz="2300" dirty="0"/>
          </a:p>
        </p:txBody>
      </p:sp>
      <p:sp>
        <p:nvSpPr>
          <p:cNvPr id="42" name="Text 40"/>
          <p:cNvSpPr/>
          <p:nvPr/>
        </p:nvSpPr>
        <p:spPr>
          <a:xfrm>
            <a:off x="10287000" y="372160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边界拒答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812280" y="4480560"/>
            <a:ext cx="4937760" cy="1051560"/>
          </a:xfrm>
          <a:prstGeom prst="roundRect">
            <a:avLst>
              <a:gd name="adj" fmla="val 3478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95160" y="45902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 / 启动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995160" y="48463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npm run build  →  server 83.9 KB + web 303.3 KB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npm start  →  /api/health ok · / 返回 HTML · /docs 200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40080" y="619963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数字来自 docs/TEST-REPORT.md；演示命令 npm run demo → http://127.0.0.1:5173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2026-10-25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DELIVERY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交付清单与边界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1234440" cy="45720"/>
          </a:xfrm>
          <a:prstGeom prst="rect">
            <a:avLst/>
          </a:prstGeom>
          <a:solidFill>
            <a:srgbClr val="B8421D"/>
          </a:solidFill>
          <a:ln w="12700">
            <a:solidFill>
              <a:srgbClr val="B842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已交付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1783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 · 产品说明与快速开始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40480" y="178308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023360" y="1783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 · 组件 / 数据流 / 状态图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240487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24048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· 端点、SSE、错误码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0" y="240487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23360" y="24048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RAG-EVAL · 10 题评测明细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8368" y="302666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302666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TEST-REPORT · 162 测试 / E2E / 评测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0" y="302666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023360" y="302666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ACCEPTANCE · 12 项验收状态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8368" y="3648456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" y="364845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AI-CODING-LOG · 76 个提交与缺陷记录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3648456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023360" y="364845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DEMO-SCRIPT · 6 分钟话术与兜底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58368" y="427024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" y="4270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Dockerfile / .dockerignore / DEPLOY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840480" y="427024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023360" y="4270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A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作品介绍 PPT（8 页）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03720" y="1389888"/>
            <a:ext cx="4617720" cy="3337560"/>
          </a:xfrm>
          <a:prstGeom prst="roundRect">
            <a:avLst>
              <a:gd name="adj" fmla="val 1096"/>
            </a:avLst>
          </a:prstGeom>
          <a:solidFill>
            <a:srgbClr val="FFFDF8"/>
          </a:solidFill>
          <a:ln w="12700">
            <a:solidFill>
              <a:srgbClr val="D8D1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14032" y="1554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边界与未验证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14032" y="193852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60920" y="193852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扫描件 PDF 不支持，需先 OCR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114032" y="237744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60920" y="23774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无鉴权 / 单用户，默认只监听 127.0.0.1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14032" y="281635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60920" y="28163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mock / demo provider 与真实模型质量不同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114032" y="325526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32552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演示阈值 0.1，真实默认 0.55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14032" y="369417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0920" y="369417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本机未安装，未构建 / 未运行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14032" y="41330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663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0920" y="41330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演示录屏与现场彩排未完成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40080" y="4315968"/>
            <a:ext cx="5943600" cy="1188720"/>
          </a:xfrm>
          <a:prstGeom prst="roundRect">
            <a:avLst>
              <a:gd name="adj" fmla="val 3077"/>
            </a:avLst>
          </a:prstGeom>
          <a:solidFill>
            <a:srgbClr val="1B1A17"/>
          </a:solidFill>
          <a:ln w="12700">
            <a:solidFill>
              <a:srgbClr val="1B1A1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1248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输出不是结论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41248" y="4828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测试、typecheck、构建、E2E、评测、真实启动共同验收；缺陷被抓到并记录。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4008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42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“让模型有依据地说；说错能发现；没依据就拒答。”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0080" y="62362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74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OfficePilot · 星海科技办公工作台 · 2026-10-25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24712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4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腾讯 AI Coding 课程作业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OfficePilot 作品介绍</dc:title>
  <dc:subject>智能办公助手 · 作品介绍</dc:subject>
  <dc:creator>OfficePilot</dc:creator>
  <cp:lastModifiedBy>OfficePilot</cp:lastModifiedBy>
  <cp:revision>1</cp:revision>
  <dcterms:created xsi:type="dcterms:W3CDTF">2026-10-25T14:54:54Z</dcterms:created>
  <dcterms:modified xsi:type="dcterms:W3CDTF">2026-10-25T14:54:54Z</dcterms:modified>
</cp:coreProperties>
</file>